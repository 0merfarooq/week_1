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5" r:id="rId1"/>
  </p:sldMasterIdLst>
  <p:sldIdLst>
    <p:sldId id="256" r:id="rId2"/>
    <p:sldId id="257" r:id="rId3"/>
    <p:sldId id="258" r:id="rId4"/>
    <p:sldId id="259" r:id="rId5"/>
    <p:sldId id="260" r:id="rId6"/>
    <p:sldId id="261" r:id="rId7"/>
    <p:sldId id="263" r:id="rId8"/>
    <p:sldId id="264" r:id="rId9"/>
    <p:sldId id="262" r:id="rId1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792">
          <p15:clr>
            <a:srgbClr val="A4A3A4"/>
          </p15:clr>
        </p15:guide>
        <p15:guide id="2" pos="192">
          <p15:clr>
            <a:srgbClr val="A4A3A4"/>
          </p15:clr>
        </p15:guide>
        <p15:guide id="3" orient="horz" pos="1080">
          <p15:clr>
            <a:srgbClr val="A4A3A4"/>
          </p15:clr>
        </p15:guide>
      </p15:sldGuideLst>
    </p:ext>
    <p: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go="http://customooxmlschemas.google.com/" xmlns="" r:id="rId220" roundtripDataSignature="AMtx7miWNY2LB4ETJwrL8F0N+EK9hEhqU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8" d="100"/>
          <a:sy n="68" d="100"/>
        </p:scale>
        <p:origin x="616" y="48"/>
      </p:cViewPr>
      <p:guideLst>
        <p:guide orient="horz" pos="792"/>
        <p:guide pos="192"/>
        <p:guide orient="horz" pos="10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22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22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220" Type="http://customschemas.google.com/relationships/presentationmetadata" Target="metadata"/><Relationship Id="rId5" Type="http://schemas.openxmlformats.org/officeDocument/2006/relationships/slide" Target="slides/slide4.xml"/><Relationship Id="rId10" Type="http://schemas.openxmlformats.org/officeDocument/2006/relationships/slide" Target="slides/slide9.xml"/><Relationship Id="rId22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223"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3413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78783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p:cSld name="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27718775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826647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pic>
        <p:nvPicPr>
          <p:cNvPr id="13" name="Google Shape;110;p4" descr="A close up of a sign&#10;&#10;Description automatically generated">
            <a:extLst>
              <a:ext uri="{FF2B5EF4-FFF2-40B4-BE49-F238E27FC236}">
                <a16:creationId xmlns:a16="http://schemas.microsoft.com/office/drawing/2014/main" id="{CE849A3B-BCF0-B774-F89E-81965C71F93E}"/>
              </a:ext>
            </a:extLst>
          </p:cNvPr>
          <p:cNvPicPr preferRelativeResize="0"/>
          <p:nvPr/>
        </p:nvPicPr>
        <p:blipFill rotWithShape="1">
          <a:blip r:embed="rId6">
            <a:alphaModFix/>
          </a:blip>
          <a:srcRect/>
          <a:stretch/>
        </p:blipFill>
        <p:spPr>
          <a:xfrm>
            <a:off x="10072688" y="78002"/>
            <a:ext cx="1800225" cy="575514"/>
          </a:xfrm>
          <a:prstGeom prst="rect">
            <a:avLst/>
          </a:prstGeom>
          <a:noFill/>
          <a:ln>
            <a:noFill/>
          </a:ln>
        </p:spPr>
      </p:pic>
      <p:sp>
        <p:nvSpPr>
          <p:cNvPr id="15" name="Rectangle 14">
            <a:extLst>
              <a:ext uri="{FF2B5EF4-FFF2-40B4-BE49-F238E27FC236}">
                <a16:creationId xmlns:a16="http://schemas.microsoft.com/office/drawing/2014/main" id="{E153E6A6-60E4-FE14-1CBC-8CC211274D1C}"/>
              </a:ext>
            </a:extLst>
          </p:cNvPr>
          <p:cNvSpPr/>
          <p:nvPr/>
        </p:nvSpPr>
        <p:spPr>
          <a:xfrm>
            <a:off x="1" y="0"/>
            <a:ext cx="9829800" cy="717630"/>
          </a:xfrm>
          <a:prstGeom prst="rect">
            <a:avLst/>
          </a:prstGeom>
          <a:solidFill>
            <a:srgbClr val="213264"/>
          </a:solidFill>
          <a:ln>
            <a:solidFill>
              <a:srgbClr val="2132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2C7CE881-772B-9023-3054-4B219B75D755}"/>
              </a:ext>
            </a:extLst>
          </p:cNvPr>
          <p:cNvSpPr/>
          <p:nvPr/>
        </p:nvSpPr>
        <p:spPr>
          <a:xfrm>
            <a:off x="9888967" y="-419"/>
            <a:ext cx="112283" cy="732357"/>
          </a:xfrm>
          <a:prstGeom prst="rect">
            <a:avLst/>
          </a:prstGeom>
          <a:solidFill>
            <a:srgbClr val="7FB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1" name="Picture 30" descr="A blue and white background&#10;&#10;Description automatically generated with medium confidence">
            <a:extLst>
              <a:ext uri="{FF2B5EF4-FFF2-40B4-BE49-F238E27FC236}">
                <a16:creationId xmlns:a16="http://schemas.microsoft.com/office/drawing/2014/main" id="{16A7B69A-9B14-87FE-841D-37F0A91D141D}"/>
              </a:ext>
            </a:extLst>
          </p:cNvPr>
          <p:cNvPicPr>
            <a:picLocks noChangeAspect="1"/>
          </p:cNvPicPr>
          <p:nvPr/>
        </p:nvPicPr>
        <p:blipFill rotWithShape="1">
          <a:blip r:embed="rId7">
            <a:alphaModFix amt="16000"/>
          </a:blip>
          <a:srcRect t="24724" r="1619" b="63695"/>
          <a:stretch/>
        </p:blipFill>
        <p:spPr>
          <a:xfrm>
            <a:off x="0" y="-1"/>
            <a:ext cx="9839325" cy="723901"/>
          </a:xfrm>
          <a:prstGeom prst="rect">
            <a:avLst/>
          </a:prstGeom>
        </p:spPr>
      </p:pic>
      <p:sp>
        <p:nvSpPr>
          <p:cNvPr id="2" name="Rectangle 1">
            <a:extLst>
              <a:ext uri="{FF2B5EF4-FFF2-40B4-BE49-F238E27FC236}">
                <a16:creationId xmlns:a16="http://schemas.microsoft.com/office/drawing/2014/main" id="{37B91A16-5D54-2FC0-B0FD-A78085FC1313}"/>
              </a:ext>
            </a:extLst>
          </p:cNvPr>
          <p:cNvSpPr/>
          <p:nvPr/>
        </p:nvSpPr>
        <p:spPr>
          <a:xfrm>
            <a:off x="11925300" y="-419"/>
            <a:ext cx="266700" cy="732357"/>
          </a:xfrm>
          <a:prstGeom prst="rect">
            <a:avLst/>
          </a:prstGeom>
          <a:solidFill>
            <a:srgbClr val="FED5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 bg1="lt1" tx1="dk1" bg2="dk2" tx2="lt2" accent1="accent1" accent2="accent2" accent3="accent3" accent4="accent4" accent5="accent5" accent6="accent6" hlink="hlink" folHlink="folHlink"/>
  <p:sldLayoutIdLst>
    <p:sldLayoutId id="2147483687" r:id="rId1"/>
    <p:sldLayoutId id="2147483701" r:id="rId2"/>
    <p:sldLayoutId id="2147483714" r:id="rId3"/>
    <p:sldLayoutId id="2147483727" r:id="rId4"/>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www.freepik.com/"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person sitting at a desk with a computer&#10;&#10;Description automatically generated">
            <a:extLst>
              <a:ext uri="{FF2B5EF4-FFF2-40B4-BE49-F238E27FC236}">
                <a16:creationId xmlns:a16="http://schemas.microsoft.com/office/drawing/2014/main" id="{07B8740D-C76F-46FC-AEFB-23FB0614DB0C}"/>
              </a:ext>
            </a:extLst>
          </p:cNvPr>
          <p:cNvPicPr>
            <a:picLocks noChangeAspect="1"/>
          </p:cNvPicPr>
          <p:nvPr/>
        </p:nvPicPr>
        <p:blipFill>
          <a:blip r:embed="rId2"/>
          <a:stretch>
            <a:fillRect/>
          </a:stretch>
        </p:blipFill>
        <p:spPr>
          <a:xfrm>
            <a:off x="0" y="0"/>
            <a:ext cx="12192000" cy="6858000"/>
          </a:xfrm>
          <a:prstGeom prst="rect">
            <a:avLst/>
          </a:prstGeom>
        </p:spPr>
      </p:pic>
      <p:sp>
        <p:nvSpPr>
          <p:cNvPr id="4" name="Rectangle: Rounded Corners 3">
            <a:extLst>
              <a:ext uri="{FF2B5EF4-FFF2-40B4-BE49-F238E27FC236}">
                <a16:creationId xmlns:a16="http://schemas.microsoft.com/office/drawing/2014/main" id="{C1857762-AD52-483C-B3E1-635C5BBC6F2F}"/>
              </a:ext>
            </a:extLst>
          </p:cNvPr>
          <p:cNvSpPr/>
          <p:nvPr/>
        </p:nvSpPr>
        <p:spPr>
          <a:xfrm>
            <a:off x="5873750" y="584200"/>
            <a:ext cx="4673600" cy="977900"/>
          </a:xfrm>
          <a:prstGeom prst="roundRect">
            <a:avLst/>
          </a:prstGeom>
          <a:solidFill>
            <a:srgbClr val="EBEEF9"/>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D5067E9C-C7B9-4476-9708-CBB3F66FD892}"/>
              </a:ext>
            </a:extLst>
          </p:cNvPr>
          <p:cNvSpPr txBox="1"/>
          <p:nvPr/>
        </p:nvSpPr>
        <p:spPr>
          <a:xfrm>
            <a:off x="4151586" y="3429000"/>
            <a:ext cx="6870861" cy="1200329"/>
          </a:xfrm>
          <a:prstGeom prst="rect">
            <a:avLst/>
          </a:prstGeom>
          <a:noFill/>
        </p:spPr>
        <p:txBody>
          <a:bodyPr wrap="square" rtlCol="0">
            <a:spAutoFit/>
          </a:bodyPr>
          <a:lstStyle/>
          <a:p>
            <a:pPr algn="r"/>
            <a:r>
              <a:rPr lang="en-GB" sz="2400" b="1" i="1" dirty="0">
                <a:solidFill>
                  <a:schemeClr val="bg1"/>
                </a:solidFill>
              </a:rPr>
              <a:t>EcoSort: Deep Learning-based Waste Classification for Sustainable Waste Management</a:t>
            </a:r>
            <a:endParaRPr lang="en-US" sz="2400" b="1" i="1" dirty="0">
              <a:solidFill>
                <a:schemeClr val="bg1"/>
              </a:solidFill>
              <a:latin typeface="Arial" panose="020B0604020202020204" pitchFamily="34" charset="0"/>
              <a:cs typeface="Arial" panose="020B0604020202020204" pitchFamily="34" charset="0"/>
            </a:endParaRPr>
          </a:p>
        </p:txBody>
      </p:sp>
      <p:grpSp>
        <p:nvGrpSpPr>
          <p:cNvPr id="6" name="Group 5">
            <a:extLst>
              <a:ext uri="{FF2B5EF4-FFF2-40B4-BE49-F238E27FC236}">
                <a16:creationId xmlns:a16="http://schemas.microsoft.com/office/drawing/2014/main" id="{D7224A59-2417-428A-A991-E468431BB817}"/>
              </a:ext>
            </a:extLst>
          </p:cNvPr>
          <p:cNvGrpSpPr/>
          <p:nvPr/>
        </p:nvGrpSpPr>
        <p:grpSpPr>
          <a:xfrm>
            <a:off x="6890523" y="742091"/>
            <a:ext cx="2640053" cy="664378"/>
            <a:chOff x="2375536" y="1112060"/>
            <a:chExt cx="3292636" cy="828603"/>
          </a:xfrm>
        </p:grpSpPr>
        <p:pic>
          <p:nvPicPr>
            <p:cNvPr id="7" name="Picture 6" descr="A close up of a logo&#10;&#10;Description automatically generated">
              <a:extLst>
                <a:ext uri="{FF2B5EF4-FFF2-40B4-BE49-F238E27FC236}">
                  <a16:creationId xmlns:a16="http://schemas.microsoft.com/office/drawing/2014/main" id="{BD3530AF-9771-470E-A9BF-F28AA227533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92781" y="1270168"/>
              <a:ext cx="1575391" cy="512386"/>
            </a:xfrm>
            <a:prstGeom prst="rect">
              <a:avLst/>
            </a:prstGeom>
          </p:spPr>
        </p:pic>
        <p:pic>
          <p:nvPicPr>
            <p:cNvPr id="8" name="Picture 7" descr="A yellow and red shell logo&#10;&#10;Description automatically generated">
              <a:extLst>
                <a:ext uri="{FF2B5EF4-FFF2-40B4-BE49-F238E27FC236}">
                  <a16:creationId xmlns:a16="http://schemas.microsoft.com/office/drawing/2014/main" id="{75E6A819-9F3F-4787-A707-A7415C302BFA}"/>
                </a:ext>
              </a:extLst>
            </p:cNvPr>
            <p:cNvPicPr>
              <a:picLocks noChangeAspect="1"/>
            </p:cNvPicPr>
            <p:nvPr/>
          </p:nvPicPr>
          <p:blipFill>
            <a:blip r:embed="rId4"/>
            <a:stretch>
              <a:fillRect/>
            </a:stretch>
          </p:blipFill>
          <p:spPr>
            <a:xfrm>
              <a:off x="2375536" y="1112060"/>
              <a:ext cx="985475" cy="828603"/>
            </a:xfrm>
            <a:prstGeom prst="rect">
              <a:avLst/>
            </a:prstGeom>
          </p:spPr>
        </p:pic>
      </p:grpSp>
    </p:spTree>
    <p:extLst>
      <p:ext uri="{BB962C8B-B14F-4D97-AF65-F5344CB8AC3E}">
        <p14:creationId xmlns:p14="http://schemas.microsoft.com/office/powerpoint/2010/main" val="3671276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094E319-C77C-49E2-964C-6E125D716194}"/>
              </a:ext>
            </a:extLst>
          </p:cNvPr>
          <p:cNvSpPr txBox="1"/>
          <p:nvPr/>
        </p:nvSpPr>
        <p:spPr>
          <a:xfrm>
            <a:off x="191911" y="972537"/>
            <a:ext cx="2652889" cy="400110"/>
          </a:xfrm>
          <a:prstGeom prst="rect">
            <a:avLst/>
          </a:prstGeom>
          <a:noFill/>
        </p:spPr>
        <p:txBody>
          <a:bodyPr wrap="square">
            <a:spAutoFit/>
          </a:bodyPr>
          <a:lstStyle/>
          <a:p>
            <a:r>
              <a:rPr lang="en-IN" sz="2000" b="1" dirty="0">
                <a:solidFill>
                  <a:srgbClr val="213163"/>
                </a:solidFill>
              </a:rPr>
              <a:t>Learning Objectives</a:t>
            </a:r>
            <a:endParaRPr lang="en-IN" sz="2000" dirty="0">
              <a:solidFill>
                <a:srgbClr val="213163"/>
              </a:solidFill>
            </a:endParaRPr>
          </a:p>
        </p:txBody>
      </p:sp>
      <p:sp>
        <p:nvSpPr>
          <p:cNvPr id="3" name="TextBox 2">
            <a:extLst>
              <a:ext uri="{FF2B5EF4-FFF2-40B4-BE49-F238E27FC236}">
                <a16:creationId xmlns:a16="http://schemas.microsoft.com/office/drawing/2014/main" id="{8E1F3497-5370-4874-9908-5AD45214E10B}"/>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dirty="0">
                <a:latin typeface="+mn-lt"/>
              </a:rPr>
              <a:t>Source : </a:t>
            </a:r>
          </a:p>
        </p:txBody>
      </p:sp>
      <p:sp>
        <p:nvSpPr>
          <p:cNvPr id="4" name="TextBox 3">
            <a:extLst>
              <a:ext uri="{FF2B5EF4-FFF2-40B4-BE49-F238E27FC236}">
                <a16:creationId xmlns:a16="http://schemas.microsoft.com/office/drawing/2014/main" id="{ECE830DD-8813-42EB-B27B-B7D85423D0C7}"/>
              </a:ext>
            </a:extLst>
          </p:cNvPr>
          <p:cNvSpPr txBox="1"/>
          <p:nvPr/>
        </p:nvSpPr>
        <p:spPr>
          <a:xfrm>
            <a:off x="880529" y="6135329"/>
            <a:ext cx="1842351" cy="276999"/>
          </a:xfrm>
          <a:prstGeom prst="rect">
            <a:avLst/>
          </a:prstGeom>
          <a:noFill/>
        </p:spPr>
        <p:txBody>
          <a:bodyPr wrap="square" rtlCol="0">
            <a:spAutoFit/>
          </a:bodyPr>
          <a:lstStyle/>
          <a:p>
            <a:pPr>
              <a:spcAft>
                <a:spcPts val="800"/>
              </a:spcAft>
            </a:pPr>
            <a:r>
              <a:rPr lang="en-IN" sz="1200" dirty="0">
                <a:solidFill>
                  <a:srgbClr val="0000FF"/>
                </a:solidFill>
                <a:latin typeface="+mn-lt"/>
                <a:hlinkClick r:id="rId2">
                  <a:extLst>
                    <a:ext uri="{A12FA001-AC4F-418D-AE19-62706E023703}">
                      <ahyp:hlinkClr xmlns:ahyp="http://schemas.microsoft.com/office/drawing/2018/hyperlinkcolor" xmlns="" val="tx"/>
                    </a:ext>
                  </a:extLst>
                </a:hlinkClick>
              </a:rPr>
              <a:t>www.freepik.com/</a:t>
            </a:r>
            <a:endParaRPr lang="en-IN" sz="1200" dirty="0">
              <a:solidFill>
                <a:srgbClr val="0000FF"/>
              </a:solidFill>
              <a:latin typeface="+mn-lt"/>
            </a:endParaRPr>
          </a:p>
        </p:txBody>
      </p:sp>
      <p:cxnSp>
        <p:nvCxnSpPr>
          <p:cNvPr id="5" name="Straight Connector 4">
            <a:extLst>
              <a:ext uri="{FF2B5EF4-FFF2-40B4-BE49-F238E27FC236}">
                <a16:creationId xmlns:a16="http://schemas.microsoft.com/office/drawing/2014/main" id="{CA22F707-7F22-48A3-97EC-98EFB1023A55}"/>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ladder leading to a large yellow circle&#10;&#10;Description automatically generated">
            <a:extLst>
              <a:ext uri="{FF2B5EF4-FFF2-40B4-BE49-F238E27FC236}">
                <a16:creationId xmlns:a16="http://schemas.microsoft.com/office/drawing/2014/main" id="{E2920B14-B344-4926-9729-BC7EBD91FF9A}"/>
              </a:ext>
            </a:extLst>
          </p:cNvPr>
          <p:cNvPicPr>
            <a:picLocks noChangeAspect="1"/>
          </p:cNvPicPr>
          <p:nvPr/>
        </p:nvPicPr>
        <p:blipFill rotWithShape="1">
          <a:blip r:embed="rId3">
            <a:alphaModFix amt="85000"/>
          </a:blip>
          <a:srcRect l="13763" t="6135" r="13650"/>
          <a:stretch/>
        </p:blipFill>
        <p:spPr>
          <a:xfrm>
            <a:off x="7345680" y="1442720"/>
            <a:ext cx="4500880" cy="4632960"/>
          </a:xfrm>
          <a:prstGeom prst="rect">
            <a:avLst/>
          </a:prstGeom>
        </p:spPr>
      </p:pic>
      <p:sp>
        <p:nvSpPr>
          <p:cNvPr id="7" name="TextBox 6">
            <a:extLst>
              <a:ext uri="{FF2B5EF4-FFF2-40B4-BE49-F238E27FC236}">
                <a16:creationId xmlns:a16="http://schemas.microsoft.com/office/drawing/2014/main" id="{6C264928-EACB-4739-BDDA-6799C99356F3}"/>
              </a:ext>
            </a:extLst>
          </p:cNvPr>
          <p:cNvSpPr txBox="1"/>
          <p:nvPr/>
        </p:nvSpPr>
        <p:spPr>
          <a:xfrm>
            <a:off x="8839200" y="3168609"/>
            <a:ext cx="1503681" cy="630942"/>
          </a:xfrm>
          <a:prstGeom prst="rect">
            <a:avLst/>
          </a:prstGeom>
          <a:noFill/>
        </p:spPr>
        <p:txBody>
          <a:bodyPr wrap="square" rtlCol="0">
            <a:spAutoFit/>
          </a:bodyPr>
          <a:lstStyle/>
          <a:p>
            <a:pPr>
              <a:spcAft>
                <a:spcPts val="800"/>
              </a:spcAft>
            </a:pPr>
            <a:r>
              <a:rPr lang="en-IN" sz="3500" b="1" dirty="0">
                <a:solidFill>
                  <a:schemeClr val="tx1"/>
                </a:solidFill>
                <a:latin typeface="+mn-lt"/>
              </a:rPr>
              <a:t>GOAL</a:t>
            </a:r>
          </a:p>
        </p:txBody>
      </p:sp>
      <p:sp>
        <p:nvSpPr>
          <p:cNvPr id="8" name="Rectangle 7"/>
          <p:cNvSpPr/>
          <p:nvPr/>
        </p:nvSpPr>
        <p:spPr>
          <a:xfrm>
            <a:off x="0" y="1414282"/>
            <a:ext cx="7719461" cy="4770537"/>
          </a:xfrm>
          <a:prstGeom prst="rect">
            <a:avLst/>
          </a:prstGeom>
        </p:spPr>
        <p:txBody>
          <a:bodyPr wrap="square">
            <a:spAutoFit/>
          </a:bodyPr>
          <a:lstStyle/>
          <a:p>
            <a:pPr>
              <a:buFont typeface="+mj-lt"/>
              <a:buAutoNum type="arabicPeriod"/>
            </a:pPr>
            <a:r>
              <a:rPr lang="en-GB" sz="1600" b="1" dirty="0"/>
              <a:t>To understand the role of Artificial Intelligence in sustainability:</a:t>
            </a:r>
            <a:r>
              <a:rPr lang="en-GB" sz="1600" dirty="0"/>
              <a:t/>
            </a:r>
            <a:br>
              <a:rPr lang="en-GB" sz="1600" dirty="0"/>
            </a:br>
            <a:r>
              <a:rPr lang="en-GB" sz="1600" dirty="0"/>
              <a:t>Learn how AI, particularly deep learning, can contribute to solving environmental problems such as waste management.</a:t>
            </a:r>
          </a:p>
          <a:p>
            <a:pPr>
              <a:buFont typeface="+mj-lt"/>
              <a:buAutoNum type="arabicPeriod"/>
            </a:pPr>
            <a:r>
              <a:rPr lang="en-GB" sz="1600" b="1" dirty="0"/>
              <a:t>To explore image classification techniques:</a:t>
            </a:r>
            <a:r>
              <a:rPr lang="en-GB" sz="1600" dirty="0"/>
              <a:t/>
            </a:r>
            <a:br>
              <a:rPr lang="en-GB" sz="1600" dirty="0"/>
            </a:br>
            <a:r>
              <a:rPr lang="en-GB" sz="1600" dirty="0"/>
              <a:t>Gain a clear understanding of how convolutional neural networks (CNNs) and object detection models like YOLOv8 work in recognizing visual patterns.</a:t>
            </a:r>
          </a:p>
          <a:p>
            <a:pPr>
              <a:buFont typeface="+mj-lt"/>
              <a:buAutoNum type="arabicPeriod"/>
            </a:pPr>
            <a:r>
              <a:rPr lang="en-GB" sz="1600" b="1" dirty="0"/>
              <a:t>To build a waste classification model:</a:t>
            </a:r>
            <a:r>
              <a:rPr lang="en-GB" sz="1600" dirty="0"/>
              <a:t/>
            </a:r>
            <a:br>
              <a:rPr lang="en-GB" sz="1600" dirty="0"/>
            </a:br>
            <a:r>
              <a:rPr lang="en-GB" sz="1600" dirty="0"/>
              <a:t>Develop a model that can accurately classify waste images into multiple categories such as plastic, glass, paper, metal, and organic.</a:t>
            </a:r>
          </a:p>
          <a:p>
            <a:pPr>
              <a:buFont typeface="+mj-lt"/>
              <a:buAutoNum type="arabicPeriod"/>
            </a:pPr>
            <a:r>
              <a:rPr lang="en-GB" sz="1600" b="1" dirty="0"/>
              <a:t>To apply real-world datasets:</a:t>
            </a:r>
            <a:r>
              <a:rPr lang="en-GB" sz="1600" dirty="0"/>
              <a:t/>
            </a:r>
            <a:br>
              <a:rPr lang="en-GB" sz="1600" dirty="0"/>
            </a:br>
            <a:r>
              <a:rPr lang="en-GB" sz="1600" dirty="0"/>
              <a:t>Learn how to </a:t>
            </a:r>
            <a:r>
              <a:rPr lang="en-GB" sz="1600" dirty="0" smtClean="0"/>
              <a:t>pre-process </a:t>
            </a:r>
            <a:r>
              <a:rPr lang="en-GB" sz="1600" dirty="0"/>
              <a:t>and use publicly available datasets (like Kaggle’s Garbage Classification v2) for model training and validation.</a:t>
            </a:r>
          </a:p>
          <a:p>
            <a:pPr>
              <a:buFont typeface="+mj-lt"/>
              <a:buAutoNum type="arabicPeriod"/>
            </a:pPr>
            <a:r>
              <a:rPr lang="en-GB" sz="1600" b="1" dirty="0"/>
              <a:t>To improve model evaluation and optimization skills:</a:t>
            </a:r>
            <a:r>
              <a:rPr lang="en-GB" sz="1600" dirty="0"/>
              <a:t/>
            </a:r>
            <a:br>
              <a:rPr lang="en-GB" sz="1600" dirty="0"/>
            </a:br>
            <a:r>
              <a:rPr lang="en-GB" sz="1600" dirty="0"/>
              <a:t>Understand how to measure model performance using accuracy, confusion matrix, and other evaluation metrics — and improve results through fine-tuning.</a:t>
            </a:r>
          </a:p>
          <a:p>
            <a:pPr>
              <a:buFont typeface="+mj-lt"/>
              <a:buAutoNum type="arabicPeriod"/>
            </a:pPr>
            <a:r>
              <a:rPr lang="en-GB" sz="1600" b="1" dirty="0"/>
              <a:t>To develop a simple and practical AI application:</a:t>
            </a:r>
            <a:r>
              <a:rPr lang="en-GB" sz="1600" dirty="0"/>
              <a:t/>
            </a:r>
            <a:br>
              <a:rPr lang="en-GB" sz="1600" dirty="0"/>
            </a:br>
            <a:r>
              <a:rPr lang="en-GB" sz="1600" dirty="0"/>
              <a:t>Implement a prototype that demonstrates how deep learning can make waste segregation smarter and more sustainable</a:t>
            </a:r>
            <a:r>
              <a:rPr lang="en-GB" sz="1600" dirty="0" smtClean="0"/>
              <a:t>.</a:t>
            </a:r>
          </a:p>
          <a:p>
            <a:endParaRPr lang="en-GB" sz="1600" dirty="0"/>
          </a:p>
        </p:txBody>
      </p:sp>
    </p:spTree>
    <p:extLst>
      <p:ext uri="{BB962C8B-B14F-4D97-AF65-F5344CB8AC3E}">
        <p14:creationId xmlns:p14="http://schemas.microsoft.com/office/powerpoint/2010/main" val="29320524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41711" y="952160"/>
            <a:ext cx="7054237" cy="707886"/>
          </a:xfrm>
          <a:prstGeom prst="rect">
            <a:avLst/>
          </a:prstGeom>
          <a:noFill/>
        </p:spPr>
        <p:txBody>
          <a:bodyPr wrap="square">
            <a:spAutoFit/>
          </a:bodyPr>
          <a:lstStyle/>
          <a:p>
            <a:r>
              <a:rPr lang="en-US" sz="4000" b="1" dirty="0">
                <a:solidFill>
                  <a:srgbClr val="213163"/>
                </a:solidFill>
              </a:rPr>
              <a:t>T</a:t>
            </a:r>
            <a:r>
              <a:rPr lang="en-IN" sz="4000" b="1" dirty="0">
                <a:solidFill>
                  <a:srgbClr val="213163"/>
                </a:solidFill>
              </a:rPr>
              <a:t>ools and Technology used </a:t>
            </a:r>
          </a:p>
        </p:txBody>
      </p:sp>
      <p:sp>
        <p:nvSpPr>
          <p:cNvPr id="2" name="Rectangle 1"/>
          <p:cNvSpPr>
            <a:spLocks noChangeArrowheads="1"/>
          </p:cNvSpPr>
          <p:nvPr/>
        </p:nvSpPr>
        <p:spPr bwMode="auto">
          <a:xfrm>
            <a:off x="145459" y="2301772"/>
            <a:ext cx="11859337"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smtClean="0">
                <a:ln>
                  <a:noFill/>
                </a:ln>
                <a:solidFill>
                  <a:schemeClr val="tx1"/>
                </a:solidFill>
                <a:effectLst/>
                <a:latin typeface="Arial" panose="020B0604020202020204" pitchFamily="34" charset="0"/>
              </a:rPr>
              <a:t>Programming Language:</a:t>
            </a:r>
            <a:r>
              <a:rPr kumimoji="0" lang="en-US" altLang="en-US" sz="2800" b="0" i="0" u="none" strike="noStrike" cap="none" normalizeH="0" baseline="0" dirty="0" smtClean="0">
                <a:ln>
                  <a:noFill/>
                </a:ln>
                <a:solidFill>
                  <a:schemeClr val="tx1"/>
                </a:solidFill>
                <a:effectLst/>
                <a:latin typeface="Arial" panose="020B0604020202020204" pitchFamily="34" charset="0"/>
              </a:rPr>
              <a:t> Python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smtClean="0">
                <a:ln>
                  <a:noFill/>
                </a:ln>
                <a:solidFill>
                  <a:schemeClr val="tx1"/>
                </a:solidFill>
                <a:effectLst/>
                <a:latin typeface="Arial" panose="020B0604020202020204" pitchFamily="34" charset="0"/>
              </a:rPr>
              <a:t>Deep Learning Frameworks:</a:t>
            </a:r>
            <a:r>
              <a:rPr kumimoji="0" lang="en-US" altLang="en-US" sz="2800" b="0" i="0" u="none" strike="noStrike" cap="none" normalizeH="0" baseline="0" dirty="0" smtClean="0">
                <a:ln>
                  <a:noFill/>
                </a:ln>
                <a:solidFill>
                  <a:schemeClr val="tx1"/>
                </a:solidFill>
                <a:effectLst/>
                <a:latin typeface="Arial" panose="020B0604020202020204" pitchFamily="34" charset="0"/>
              </a:rPr>
              <a:t> </a:t>
            </a:r>
            <a:r>
              <a:rPr kumimoji="0" lang="en-US" altLang="en-US" sz="2800" b="0" i="0" u="none" strike="noStrike" cap="none" normalizeH="0" baseline="0" dirty="0" err="1" smtClean="0">
                <a:ln>
                  <a:noFill/>
                </a:ln>
                <a:solidFill>
                  <a:schemeClr val="tx1"/>
                </a:solidFill>
                <a:effectLst/>
                <a:latin typeface="Arial" panose="020B0604020202020204" pitchFamily="34" charset="0"/>
              </a:rPr>
              <a:t>PyTorch</a:t>
            </a:r>
            <a:r>
              <a:rPr kumimoji="0" lang="en-US" altLang="en-US" sz="2800" b="0" i="0" u="none" strike="noStrike" cap="none" normalizeH="0" baseline="0" dirty="0" smtClean="0">
                <a:ln>
                  <a:noFill/>
                </a:ln>
                <a:solidFill>
                  <a:schemeClr val="tx1"/>
                </a:solidFill>
                <a:effectLst/>
                <a:latin typeface="Arial" panose="020B0604020202020204" pitchFamily="34" charset="0"/>
              </a:rPr>
              <a:t> / </a:t>
            </a:r>
            <a:r>
              <a:rPr kumimoji="0" lang="en-US" altLang="en-US" sz="2800" b="0" i="0" u="none" strike="noStrike" cap="none" normalizeH="0" baseline="0" dirty="0" err="1" smtClean="0">
                <a:ln>
                  <a:noFill/>
                </a:ln>
                <a:solidFill>
                  <a:schemeClr val="tx1"/>
                </a:solidFill>
                <a:effectLst/>
                <a:latin typeface="Arial" panose="020B0604020202020204" pitchFamily="34" charset="0"/>
              </a:rPr>
              <a:t>TensorFlow</a:t>
            </a:r>
            <a:endParaRPr kumimoji="0" lang="en-US" altLang="en-US" sz="2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smtClean="0">
                <a:ln>
                  <a:noFill/>
                </a:ln>
                <a:solidFill>
                  <a:schemeClr val="tx1"/>
                </a:solidFill>
                <a:effectLst/>
                <a:latin typeface="Arial" panose="020B0604020202020204" pitchFamily="34" charset="0"/>
              </a:rPr>
              <a:t>Model Used:</a:t>
            </a:r>
            <a:r>
              <a:rPr kumimoji="0" lang="en-US" altLang="en-US" sz="2800" b="0" i="0" u="none" strike="noStrike" cap="none" normalizeH="0" baseline="0" dirty="0" smtClean="0">
                <a:ln>
                  <a:noFill/>
                </a:ln>
                <a:solidFill>
                  <a:schemeClr val="tx1"/>
                </a:solidFill>
                <a:effectLst/>
                <a:latin typeface="Arial" panose="020B0604020202020204" pitchFamily="34" charset="0"/>
              </a:rPr>
              <a:t> YOLOv8 (You Only Look Once version 8)</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smtClean="0">
                <a:ln>
                  <a:noFill/>
                </a:ln>
                <a:solidFill>
                  <a:schemeClr val="tx1"/>
                </a:solidFill>
                <a:effectLst/>
                <a:latin typeface="Arial" panose="020B0604020202020204" pitchFamily="34" charset="0"/>
              </a:rPr>
              <a:t>Libraries:</a:t>
            </a:r>
            <a:r>
              <a:rPr kumimoji="0" lang="en-US" altLang="en-US" sz="2800" b="0" i="0" u="none" strike="noStrike" cap="none" normalizeH="0" baseline="0" dirty="0" smtClean="0">
                <a:ln>
                  <a:noFill/>
                </a:ln>
                <a:solidFill>
                  <a:schemeClr val="tx1"/>
                </a:solidFill>
                <a:effectLst/>
                <a:latin typeface="Arial" panose="020B0604020202020204" pitchFamily="34" charset="0"/>
              </a:rPr>
              <a:t> </a:t>
            </a:r>
            <a:r>
              <a:rPr kumimoji="0" lang="en-US" altLang="en-US" sz="2800" b="0" i="0" u="none" strike="noStrike" cap="none" normalizeH="0" baseline="0" dirty="0" err="1" smtClean="0">
                <a:ln>
                  <a:noFill/>
                </a:ln>
                <a:solidFill>
                  <a:schemeClr val="tx1"/>
                </a:solidFill>
                <a:effectLst/>
                <a:latin typeface="Arial" panose="020B0604020202020204" pitchFamily="34" charset="0"/>
              </a:rPr>
              <a:t>OpenCV</a:t>
            </a:r>
            <a:r>
              <a:rPr kumimoji="0" lang="en-US" altLang="en-US" sz="2800" b="0" i="0" u="none" strike="noStrike" cap="none" normalizeH="0" baseline="0" dirty="0" smtClean="0">
                <a:ln>
                  <a:noFill/>
                </a:ln>
                <a:solidFill>
                  <a:schemeClr val="tx1"/>
                </a:solidFill>
                <a:effectLst/>
                <a:latin typeface="Arial" panose="020B0604020202020204" pitchFamily="34" charset="0"/>
              </a:rPr>
              <a:t>, </a:t>
            </a:r>
            <a:r>
              <a:rPr kumimoji="0" lang="en-US" altLang="en-US" sz="2800" b="0" i="0" u="none" strike="noStrike" cap="none" normalizeH="0" baseline="0" dirty="0" err="1" smtClean="0">
                <a:ln>
                  <a:noFill/>
                </a:ln>
                <a:solidFill>
                  <a:schemeClr val="tx1"/>
                </a:solidFill>
                <a:effectLst/>
                <a:latin typeface="Arial" panose="020B0604020202020204" pitchFamily="34" charset="0"/>
              </a:rPr>
              <a:t>NumPy</a:t>
            </a:r>
            <a:r>
              <a:rPr kumimoji="0" lang="en-US" altLang="en-US" sz="2800" b="0" i="0" u="none" strike="noStrike" cap="none" normalizeH="0" baseline="0" dirty="0" smtClean="0">
                <a:ln>
                  <a:noFill/>
                </a:ln>
                <a:solidFill>
                  <a:schemeClr val="tx1"/>
                </a:solidFill>
                <a:effectLst/>
                <a:latin typeface="Arial" panose="020B0604020202020204" pitchFamily="34" charset="0"/>
              </a:rPr>
              <a:t>, Pandas, </a:t>
            </a:r>
            <a:r>
              <a:rPr kumimoji="0" lang="en-US" altLang="en-US" sz="2800" b="0" i="0" u="none" strike="noStrike" cap="none" normalizeH="0" baseline="0" dirty="0" err="1" smtClean="0">
                <a:ln>
                  <a:noFill/>
                </a:ln>
                <a:solidFill>
                  <a:schemeClr val="tx1"/>
                </a:solidFill>
                <a:effectLst/>
                <a:latin typeface="Arial" panose="020B0604020202020204" pitchFamily="34" charset="0"/>
              </a:rPr>
              <a:t>Matplotlib</a:t>
            </a:r>
            <a:r>
              <a:rPr kumimoji="0" lang="en-US" altLang="en-US" sz="2800" b="0" i="0" u="none" strike="noStrike" cap="none" normalizeH="0" baseline="0" dirty="0" smtClean="0">
                <a:ln>
                  <a:noFill/>
                </a:ln>
                <a:solidFill>
                  <a:schemeClr val="tx1"/>
                </a:solidFill>
                <a:effectLst/>
                <a:latin typeface="Arial" panose="020B0604020202020204" pitchFamily="34" charset="0"/>
              </a:rPr>
              <a:t>, </a:t>
            </a:r>
            <a:r>
              <a:rPr kumimoji="0" lang="en-US" altLang="en-US" sz="2800" b="0" i="0" u="none" strike="noStrike" cap="none" normalizeH="0" baseline="0" dirty="0" err="1" smtClean="0">
                <a:ln>
                  <a:noFill/>
                </a:ln>
                <a:solidFill>
                  <a:schemeClr val="tx1"/>
                </a:solidFill>
                <a:effectLst/>
                <a:latin typeface="Arial" panose="020B0604020202020204" pitchFamily="34" charset="0"/>
              </a:rPr>
              <a:t>Scikit</a:t>
            </a:r>
            <a:r>
              <a:rPr kumimoji="0" lang="en-US" altLang="en-US" sz="2800" b="0" i="0" u="none" strike="noStrike" cap="none" normalizeH="0" baseline="0" dirty="0" smtClean="0">
                <a:ln>
                  <a:noFill/>
                </a:ln>
                <a:solidFill>
                  <a:schemeClr val="tx1"/>
                </a:solidFill>
                <a:effectLst/>
                <a:latin typeface="Arial" panose="020B0604020202020204" pitchFamily="34" charset="0"/>
              </a:rPr>
              <a:t>-learn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smtClean="0">
                <a:ln>
                  <a:noFill/>
                </a:ln>
                <a:solidFill>
                  <a:schemeClr val="tx1"/>
                </a:solidFill>
                <a:effectLst/>
                <a:latin typeface="Arial" panose="020B0604020202020204" pitchFamily="34" charset="0"/>
              </a:rPr>
              <a:t>Dataset Source:</a:t>
            </a:r>
            <a:r>
              <a:rPr kumimoji="0" lang="en-US" altLang="en-US" sz="2800" b="0" i="0" u="none" strike="noStrike" cap="none" normalizeH="0" baseline="0" dirty="0" smtClean="0">
                <a:ln>
                  <a:noFill/>
                </a:ln>
                <a:solidFill>
                  <a:schemeClr val="tx1"/>
                </a:solidFill>
                <a:effectLst/>
                <a:latin typeface="Arial" panose="020B0604020202020204" pitchFamily="34" charset="0"/>
              </a:rPr>
              <a:t> </a:t>
            </a:r>
            <a:r>
              <a:rPr kumimoji="0" lang="en-US" altLang="en-US" sz="2800" b="0" i="0" u="none" strike="noStrike" cap="none" normalizeH="0" baseline="0" dirty="0" err="1" smtClean="0">
                <a:ln>
                  <a:noFill/>
                </a:ln>
                <a:solidFill>
                  <a:schemeClr val="tx1"/>
                </a:solidFill>
                <a:effectLst/>
                <a:latin typeface="Arial" panose="020B0604020202020204" pitchFamily="34" charset="0"/>
              </a:rPr>
              <a:t>Kaggle</a:t>
            </a:r>
            <a:r>
              <a:rPr kumimoji="0" lang="en-US" altLang="en-US" sz="2800" b="0" i="0" u="none" strike="noStrike" cap="none" normalizeH="0" baseline="0" dirty="0" smtClean="0">
                <a:ln>
                  <a:noFill/>
                </a:ln>
                <a:solidFill>
                  <a:schemeClr val="tx1"/>
                </a:solidFill>
                <a:effectLst/>
                <a:latin typeface="Arial" panose="020B0604020202020204" pitchFamily="34" charset="0"/>
              </a:rPr>
              <a:t> – Garbage Classification v2</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smtClean="0">
                <a:ln>
                  <a:noFill/>
                </a:ln>
                <a:solidFill>
                  <a:schemeClr val="tx1"/>
                </a:solidFill>
                <a:effectLst/>
                <a:latin typeface="Arial" panose="020B0604020202020204" pitchFamily="34" charset="0"/>
              </a:rPr>
              <a:t>Development Environment:</a:t>
            </a:r>
            <a:r>
              <a:rPr kumimoji="0" lang="en-US" altLang="en-US" sz="2800" b="0" i="0" u="none" strike="noStrike" cap="none" normalizeH="0" baseline="0" dirty="0" smtClean="0">
                <a:ln>
                  <a:noFill/>
                </a:ln>
                <a:solidFill>
                  <a:schemeClr val="tx1"/>
                </a:solidFill>
                <a:effectLst/>
                <a:latin typeface="Arial" panose="020B0604020202020204" pitchFamily="34" charset="0"/>
              </a:rPr>
              <a:t> </a:t>
            </a:r>
            <a:r>
              <a:rPr kumimoji="0" lang="en-US" altLang="en-US" sz="2800" b="0" i="0" u="none" strike="noStrike" cap="none" normalizeH="0" baseline="0" dirty="0" err="1" smtClean="0">
                <a:ln>
                  <a:noFill/>
                </a:ln>
                <a:solidFill>
                  <a:schemeClr val="tx1"/>
                </a:solidFill>
                <a:effectLst/>
                <a:latin typeface="Arial" panose="020B0604020202020204" pitchFamily="34" charset="0"/>
              </a:rPr>
              <a:t>Jupyter</a:t>
            </a:r>
            <a:r>
              <a:rPr kumimoji="0" lang="en-US" altLang="en-US" sz="2800" b="0" i="0" u="none" strike="noStrike" cap="none" normalizeH="0" baseline="0" dirty="0" smtClean="0">
                <a:ln>
                  <a:noFill/>
                </a:ln>
                <a:solidFill>
                  <a:schemeClr val="tx1"/>
                </a:solidFill>
                <a:effectLst/>
                <a:latin typeface="Arial" panose="020B0604020202020204" pitchFamily="34" charset="0"/>
              </a:rPr>
              <a:t> Notebook / Google </a:t>
            </a:r>
            <a:r>
              <a:rPr kumimoji="0" lang="en-US" altLang="en-US" sz="2800" b="0" i="0" u="none" strike="noStrike" cap="none" normalizeH="0" baseline="0" dirty="0" err="1" smtClean="0">
                <a:ln>
                  <a:noFill/>
                </a:ln>
                <a:solidFill>
                  <a:schemeClr val="tx1"/>
                </a:solidFill>
                <a:effectLst/>
                <a:latin typeface="Arial" panose="020B0604020202020204" pitchFamily="34" charset="0"/>
              </a:rPr>
              <a:t>Colab</a:t>
            </a:r>
            <a:endParaRPr kumimoji="0" lang="en-US" altLang="en-US" sz="2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smtClean="0">
                <a:ln>
                  <a:noFill/>
                </a:ln>
                <a:solidFill>
                  <a:schemeClr val="tx1"/>
                </a:solidFill>
                <a:effectLst/>
                <a:latin typeface="Arial" panose="020B0604020202020204" pitchFamily="34" charset="0"/>
              </a:rPr>
              <a:t>Version Control:</a:t>
            </a:r>
            <a:r>
              <a:rPr kumimoji="0" lang="en-US" altLang="en-US" sz="2800" b="0" i="0" u="none" strike="noStrike" cap="none" normalizeH="0" baseline="0" dirty="0" smtClean="0">
                <a:ln>
                  <a:noFill/>
                </a:ln>
                <a:solidFill>
                  <a:schemeClr val="tx1"/>
                </a:solidFill>
                <a:effectLst/>
                <a:latin typeface="Arial" panose="020B0604020202020204" pitchFamily="34" charset="0"/>
              </a:rPr>
              <a:t> </a:t>
            </a:r>
            <a:r>
              <a:rPr kumimoji="0" lang="en-US" altLang="en-US" sz="2800" b="0" i="0" u="none" strike="noStrike" cap="none" normalizeH="0" baseline="0" dirty="0" err="1" smtClean="0">
                <a:ln>
                  <a:noFill/>
                </a:ln>
                <a:solidFill>
                  <a:schemeClr val="tx1"/>
                </a:solidFill>
                <a:effectLst/>
                <a:latin typeface="Arial" panose="020B0604020202020204" pitchFamily="34" charset="0"/>
              </a:rPr>
              <a:t>Git</a:t>
            </a:r>
            <a:r>
              <a:rPr kumimoji="0" lang="en-US" altLang="en-US" sz="2800" b="0" i="0" u="none" strike="noStrike" cap="none" normalizeH="0" baseline="0" dirty="0" smtClean="0">
                <a:ln>
                  <a:noFill/>
                </a:ln>
                <a:solidFill>
                  <a:schemeClr val="tx1"/>
                </a:solidFill>
                <a:effectLst/>
                <a:latin typeface="Arial" panose="020B0604020202020204" pitchFamily="34" charset="0"/>
              </a:rPr>
              <a:t> and GitHub</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smtClean="0">
                <a:ln>
                  <a:noFill/>
                </a:ln>
                <a:solidFill>
                  <a:schemeClr val="tx1"/>
                </a:solidFill>
                <a:effectLst/>
                <a:latin typeface="Arial" panose="020B0604020202020204" pitchFamily="34" charset="0"/>
              </a:rPr>
              <a:t>Optional Deployment Tools:</a:t>
            </a:r>
            <a:r>
              <a:rPr kumimoji="0" lang="en-US" altLang="en-US" sz="2800" b="0" i="0" u="none" strike="noStrike" cap="none" normalizeH="0" baseline="0" dirty="0" smtClean="0">
                <a:ln>
                  <a:noFill/>
                </a:ln>
                <a:solidFill>
                  <a:schemeClr val="tx1"/>
                </a:solidFill>
                <a:effectLst/>
                <a:latin typeface="Arial" panose="020B0604020202020204" pitchFamily="34" charset="0"/>
              </a:rPr>
              <a:t> </a:t>
            </a:r>
            <a:r>
              <a:rPr kumimoji="0" lang="en-US" altLang="en-US" sz="2800" b="0" i="0" u="none" strike="noStrike" cap="none" normalizeH="0" baseline="0" dirty="0" err="1" smtClean="0">
                <a:ln>
                  <a:noFill/>
                </a:ln>
                <a:solidFill>
                  <a:schemeClr val="tx1"/>
                </a:solidFill>
                <a:effectLst/>
                <a:latin typeface="Arial" panose="020B0604020202020204" pitchFamily="34" charset="0"/>
              </a:rPr>
              <a:t>Streamlit</a:t>
            </a:r>
            <a:r>
              <a:rPr kumimoji="0" lang="en-US" altLang="en-US" sz="2800" b="0" i="0" u="none" strike="noStrike" cap="none" normalizeH="0" baseline="0" dirty="0" smtClean="0">
                <a:ln>
                  <a:noFill/>
                </a:ln>
                <a:solidFill>
                  <a:schemeClr val="tx1"/>
                </a:solidFill>
                <a:effectLst/>
                <a:latin typeface="Arial" panose="020B0604020202020204" pitchFamily="34" charset="0"/>
              </a:rPr>
              <a:t> or Flask for web-based interface</a:t>
            </a:r>
          </a:p>
        </p:txBody>
      </p:sp>
    </p:spTree>
    <p:extLst>
      <p:ext uri="{BB962C8B-B14F-4D97-AF65-F5344CB8AC3E}">
        <p14:creationId xmlns:p14="http://schemas.microsoft.com/office/powerpoint/2010/main" val="564571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29855" y="947279"/>
            <a:ext cx="6102626" cy="400110"/>
          </a:xfrm>
          <a:prstGeom prst="rect">
            <a:avLst/>
          </a:prstGeom>
          <a:noFill/>
        </p:spPr>
        <p:txBody>
          <a:bodyPr wrap="square">
            <a:spAutoFit/>
          </a:bodyPr>
          <a:lstStyle/>
          <a:p>
            <a:r>
              <a:rPr lang="en-US" sz="2000" b="1" dirty="0">
                <a:solidFill>
                  <a:srgbClr val="213163"/>
                </a:solidFill>
              </a:rPr>
              <a:t>Methodology</a:t>
            </a:r>
            <a:r>
              <a:rPr lang="en-US" sz="1800" b="1" dirty="0">
                <a:solidFill>
                  <a:srgbClr val="213163"/>
                </a:solidFill>
              </a:rPr>
              <a:t> </a:t>
            </a:r>
            <a:endParaRPr lang="en-IN" sz="1800" dirty="0">
              <a:solidFill>
                <a:srgbClr val="213163"/>
              </a:solidFill>
            </a:endParaRPr>
          </a:p>
        </p:txBody>
      </p:sp>
      <p:sp>
        <p:nvSpPr>
          <p:cNvPr id="2" name="Rectangle 1"/>
          <p:cNvSpPr>
            <a:spLocks noChangeArrowheads="1"/>
          </p:cNvSpPr>
          <p:nvPr/>
        </p:nvSpPr>
        <p:spPr bwMode="auto">
          <a:xfrm>
            <a:off x="67377" y="1391700"/>
            <a:ext cx="11916076"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smtClean="0">
                <a:ln>
                  <a:noFill/>
                </a:ln>
                <a:solidFill>
                  <a:schemeClr val="tx1"/>
                </a:solidFill>
                <a:effectLst/>
                <a:latin typeface="Arial" panose="020B0604020202020204" pitchFamily="34" charset="0"/>
              </a:rPr>
              <a:t>Data Collection &amp; Exploration:</a:t>
            </a:r>
            <a:r>
              <a:rPr kumimoji="0" lang="en-US" altLang="en-US" sz="2000" b="0" i="0" u="none" strike="noStrike" cap="none" normalizeH="0" baseline="0" dirty="0" smtClean="0">
                <a:ln>
                  <a:noFill/>
                </a:ln>
                <a:solidFill>
                  <a:schemeClr val="tx1"/>
                </a:solidFill>
                <a:effectLst/>
                <a:latin typeface="Arial" panose="020B0604020202020204" pitchFamily="34" charset="0"/>
              </a:rPr>
              <a:t/>
            </a:r>
            <a:br>
              <a:rPr kumimoji="0" lang="en-US" altLang="en-US" sz="2000" b="0" i="0" u="none" strike="noStrike" cap="none" normalizeH="0" baseline="0" dirty="0" smtClean="0">
                <a:ln>
                  <a:noFill/>
                </a:ln>
                <a:solidFill>
                  <a:schemeClr val="tx1"/>
                </a:solidFill>
                <a:effectLst/>
                <a:latin typeface="Arial" panose="020B0604020202020204" pitchFamily="34" charset="0"/>
              </a:rPr>
            </a:br>
            <a:r>
              <a:rPr kumimoji="0" lang="en-US" altLang="en-US" sz="2000" b="0" i="0" u="none" strike="noStrike" cap="none" normalizeH="0" baseline="0" dirty="0" smtClean="0">
                <a:ln>
                  <a:noFill/>
                </a:ln>
                <a:solidFill>
                  <a:schemeClr val="tx1"/>
                </a:solidFill>
                <a:effectLst/>
                <a:latin typeface="Arial" panose="020B0604020202020204" pitchFamily="34" charset="0"/>
              </a:rPr>
              <a:t>Downloaded the </a:t>
            </a:r>
            <a:r>
              <a:rPr kumimoji="0" lang="en-US" altLang="en-US" sz="2000" b="0" i="1" u="none" strike="noStrike" cap="none" normalizeH="0" baseline="0" dirty="0" smtClean="0">
                <a:ln>
                  <a:noFill/>
                </a:ln>
                <a:solidFill>
                  <a:schemeClr val="tx1"/>
                </a:solidFill>
                <a:effectLst/>
                <a:latin typeface="Arial" panose="020B0604020202020204" pitchFamily="34" charset="0"/>
              </a:rPr>
              <a:t>Garbage Classification v2</a:t>
            </a:r>
            <a:r>
              <a:rPr kumimoji="0" lang="en-US" altLang="en-US" sz="2000" b="0" i="0" u="none" strike="noStrike" cap="none" normalizeH="0" baseline="0" dirty="0" smtClean="0">
                <a:ln>
                  <a:noFill/>
                </a:ln>
                <a:solidFill>
                  <a:schemeClr val="tx1"/>
                </a:solidFill>
                <a:effectLst/>
                <a:latin typeface="Arial" panose="020B0604020202020204" pitchFamily="34" charset="0"/>
              </a:rPr>
              <a:t> dataset from </a:t>
            </a:r>
            <a:r>
              <a:rPr kumimoji="0" lang="en-US" altLang="en-US" sz="2000" b="0" i="0" u="none" strike="noStrike" cap="none" normalizeH="0" baseline="0" dirty="0" err="1" smtClean="0">
                <a:ln>
                  <a:noFill/>
                </a:ln>
                <a:solidFill>
                  <a:schemeClr val="tx1"/>
                </a:solidFill>
                <a:effectLst/>
                <a:latin typeface="Arial" panose="020B0604020202020204" pitchFamily="34" charset="0"/>
              </a:rPr>
              <a:t>Kaggle</a:t>
            </a:r>
            <a:r>
              <a:rPr kumimoji="0" lang="en-US" altLang="en-US" sz="2000" b="0" i="0" u="none" strike="noStrike" cap="none" normalizeH="0" baseline="0" dirty="0" smtClean="0">
                <a:ln>
                  <a:noFill/>
                </a:ln>
                <a:solidFill>
                  <a:schemeClr val="tx1"/>
                </a:solidFill>
                <a:effectLst/>
                <a:latin typeface="Arial" panose="020B0604020202020204" pitchFamily="34" charset="0"/>
              </a:rPr>
              <a:t> and explored image categories and distribution.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smtClean="0">
                <a:ln>
                  <a:noFill/>
                </a:ln>
                <a:solidFill>
                  <a:schemeClr val="tx1"/>
                </a:solidFill>
                <a:effectLst/>
                <a:latin typeface="Arial" panose="020B0604020202020204" pitchFamily="34" charset="0"/>
              </a:rPr>
              <a:t>Data Preprocessing:</a:t>
            </a:r>
            <a:r>
              <a:rPr kumimoji="0" lang="en-US" altLang="en-US" sz="2000" b="0" i="0" u="none" strike="noStrike" cap="none" normalizeH="0" baseline="0" dirty="0" smtClean="0">
                <a:ln>
                  <a:noFill/>
                </a:ln>
                <a:solidFill>
                  <a:schemeClr val="tx1"/>
                </a:solidFill>
                <a:effectLst/>
                <a:latin typeface="Arial" panose="020B0604020202020204" pitchFamily="34" charset="0"/>
              </a:rPr>
              <a:t/>
            </a:r>
            <a:br>
              <a:rPr kumimoji="0" lang="en-US" altLang="en-US" sz="2000" b="0" i="0" u="none" strike="noStrike" cap="none" normalizeH="0" baseline="0" dirty="0" smtClean="0">
                <a:ln>
                  <a:noFill/>
                </a:ln>
                <a:solidFill>
                  <a:schemeClr val="tx1"/>
                </a:solidFill>
                <a:effectLst/>
                <a:latin typeface="Arial" panose="020B0604020202020204" pitchFamily="34" charset="0"/>
              </a:rPr>
            </a:br>
            <a:r>
              <a:rPr kumimoji="0" lang="en-US" altLang="en-US" sz="2000" b="0" i="0" u="none" strike="noStrike" cap="none" normalizeH="0" baseline="0" dirty="0" smtClean="0">
                <a:ln>
                  <a:noFill/>
                </a:ln>
                <a:solidFill>
                  <a:schemeClr val="tx1"/>
                </a:solidFill>
                <a:effectLst/>
                <a:latin typeface="Arial" panose="020B0604020202020204" pitchFamily="34" charset="0"/>
              </a:rPr>
              <a:t>Resized, normalized, and augmented the dataset to improve model generalization and balance between classes.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smtClean="0">
                <a:ln>
                  <a:noFill/>
                </a:ln>
                <a:solidFill>
                  <a:schemeClr val="tx1"/>
                </a:solidFill>
                <a:effectLst/>
                <a:latin typeface="Arial" panose="020B0604020202020204" pitchFamily="34" charset="0"/>
              </a:rPr>
              <a:t>Model Selection &amp; Training:</a:t>
            </a:r>
            <a:r>
              <a:rPr kumimoji="0" lang="en-US" altLang="en-US" sz="2000" b="0" i="0" u="none" strike="noStrike" cap="none" normalizeH="0" baseline="0" dirty="0" smtClean="0">
                <a:ln>
                  <a:noFill/>
                </a:ln>
                <a:solidFill>
                  <a:schemeClr val="tx1"/>
                </a:solidFill>
                <a:effectLst/>
                <a:latin typeface="Arial" panose="020B0604020202020204" pitchFamily="34" charset="0"/>
              </a:rPr>
              <a:t/>
            </a:r>
            <a:br>
              <a:rPr kumimoji="0" lang="en-US" altLang="en-US" sz="2000" b="0" i="0" u="none" strike="noStrike" cap="none" normalizeH="0" baseline="0" dirty="0" smtClean="0">
                <a:ln>
                  <a:noFill/>
                </a:ln>
                <a:solidFill>
                  <a:schemeClr val="tx1"/>
                </a:solidFill>
                <a:effectLst/>
                <a:latin typeface="Arial" panose="020B0604020202020204" pitchFamily="34" charset="0"/>
              </a:rPr>
            </a:br>
            <a:r>
              <a:rPr kumimoji="0" lang="en-US" altLang="en-US" sz="2000" b="0" i="0" u="none" strike="noStrike" cap="none" normalizeH="0" baseline="0" dirty="0" smtClean="0">
                <a:ln>
                  <a:noFill/>
                </a:ln>
                <a:solidFill>
                  <a:schemeClr val="tx1"/>
                </a:solidFill>
                <a:effectLst/>
                <a:latin typeface="Arial" panose="020B0604020202020204" pitchFamily="34" charset="0"/>
              </a:rPr>
              <a:t>Implemented a YOLOv8 model trained on labeled images to detect and classify waste types.</a:t>
            </a:r>
            <a:br>
              <a:rPr kumimoji="0" lang="en-US" altLang="en-US" sz="2000" b="0" i="0" u="none" strike="noStrike" cap="none" normalizeH="0" baseline="0" dirty="0" smtClean="0">
                <a:ln>
                  <a:noFill/>
                </a:ln>
                <a:solidFill>
                  <a:schemeClr val="tx1"/>
                </a:solidFill>
                <a:effectLst/>
                <a:latin typeface="Arial" panose="020B0604020202020204" pitchFamily="34" charset="0"/>
              </a:rPr>
            </a:br>
            <a:r>
              <a:rPr kumimoji="0" lang="en-US" altLang="en-US" sz="2000" b="0" i="0" u="none" strike="noStrike" cap="none" normalizeH="0" baseline="0" dirty="0" smtClean="0">
                <a:ln>
                  <a:noFill/>
                </a:ln>
                <a:solidFill>
                  <a:schemeClr val="tx1"/>
                </a:solidFill>
                <a:effectLst/>
                <a:latin typeface="Arial" panose="020B0604020202020204" pitchFamily="34" charset="0"/>
              </a:rPr>
              <a:t>Alternatively, CNN architectures like </a:t>
            </a:r>
            <a:r>
              <a:rPr kumimoji="0" lang="en-US" altLang="en-US" sz="2000" b="0" i="0" u="none" strike="noStrike" cap="none" normalizeH="0" baseline="0" dirty="0" err="1" smtClean="0">
                <a:ln>
                  <a:noFill/>
                </a:ln>
                <a:solidFill>
                  <a:schemeClr val="tx1"/>
                </a:solidFill>
                <a:effectLst/>
                <a:latin typeface="Arial" panose="020B0604020202020204" pitchFamily="34" charset="0"/>
              </a:rPr>
              <a:t>ResNet</a:t>
            </a:r>
            <a:r>
              <a:rPr kumimoji="0" lang="en-US" altLang="en-US" sz="2000" b="0" i="0" u="none" strike="noStrike" cap="none" normalizeH="0" baseline="0" dirty="0" smtClean="0">
                <a:ln>
                  <a:noFill/>
                </a:ln>
                <a:solidFill>
                  <a:schemeClr val="tx1"/>
                </a:solidFill>
                <a:effectLst/>
                <a:latin typeface="Arial" panose="020B0604020202020204" pitchFamily="34" charset="0"/>
              </a:rPr>
              <a:t> or </a:t>
            </a:r>
            <a:r>
              <a:rPr kumimoji="0" lang="en-US" altLang="en-US" sz="2000" b="0" i="0" u="none" strike="noStrike" cap="none" normalizeH="0" baseline="0" dirty="0" err="1" smtClean="0">
                <a:ln>
                  <a:noFill/>
                </a:ln>
                <a:solidFill>
                  <a:schemeClr val="tx1"/>
                </a:solidFill>
                <a:effectLst/>
                <a:latin typeface="Arial" panose="020B0604020202020204" pitchFamily="34" charset="0"/>
              </a:rPr>
              <a:t>MobileNet</a:t>
            </a:r>
            <a:r>
              <a:rPr kumimoji="0" lang="en-US" altLang="en-US" sz="2000" b="0" i="0" u="none" strike="noStrike" cap="none" normalizeH="0" baseline="0" dirty="0" smtClean="0">
                <a:ln>
                  <a:noFill/>
                </a:ln>
                <a:solidFill>
                  <a:schemeClr val="tx1"/>
                </a:solidFill>
                <a:effectLst/>
                <a:latin typeface="Arial" panose="020B0604020202020204" pitchFamily="34" charset="0"/>
              </a:rPr>
              <a:t> can be used for baseline comparisons.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smtClean="0">
                <a:ln>
                  <a:noFill/>
                </a:ln>
                <a:solidFill>
                  <a:schemeClr val="tx1"/>
                </a:solidFill>
                <a:effectLst/>
                <a:latin typeface="Arial" panose="020B0604020202020204" pitchFamily="34" charset="0"/>
              </a:rPr>
              <a:t>Model Evaluation:</a:t>
            </a:r>
            <a:r>
              <a:rPr kumimoji="0" lang="en-US" altLang="en-US" sz="2000" b="0" i="0" u="none" strike="noStrike" cap="none" normalizeH="0" baseline="0" dirty="0" smtClean="0">
                <a:ln>
                  <a:noFill/>
                </a:ln>
                <a:solidFill>
                  <a:schemeClr val="tx1"/>
                </a:solidFill>
                <a:effectLst/>
                <a:latin typeface="Arial" panose="020B0604020202020204" pitchFamily="34" charset="0"/>
              </a:rPr>
              <a:t/>
            </a:r>
            <a:br>
              <a:rPr kumimoji="0" lang="en-US" altLang="en-US" sz="2000" b="0" i="0" u="none" strike="noStrike" cap="none" normalizeH="0" baseline="0" dirty="0" smtClean="0">
                <a:ln>
                  <a:noFill/>
                </a:ln>
                <a:solidFill>
                  <a:schemeClr val="tx1"/>
                </a:solidFill>
                <a:effectLst/>
                <a:latin typeface="Arial" panose="020B0604020202020204" pitchFamily="34" charset="0"/>
              </a:rPr>
            </a:br>
            <a:r>
              <a:rPr kumimoji="0" lang="en-US" altLang="en-US" sz="2000" b="0" i="0" u="none" strike="noStrike" cap="none" normalizeH="0" baseline="0" dirty="0" smtClean="0">
                <a:ln>
                  <a:noFill/>
                </a:ln>
                <a:solidFill>
                  <a:schemeClr val="tx1"/>
                </a:solidFill>
                <a:effectLst/>
                <a:latin typeface="Arial" panose="020B0604020202020204" pitchFamily="34" charset="0"/>
              </a:rPr>
              <a:t>Evaluated model performance using accuracy, precision, recall, and F1-score metrics.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smtClean="0">
                <a:ln>
                  <a:noFill/>
                </a:ln>
                <a:solidFill>
                  <a:schemeClr val="tx1"/>
                </a:solidFill>
                <a:effectLst/>
                <a:latin typeface="Arial" panose="020B0604020202020204" pitchFamily="34" charset="0"/>
              </a:rPr>
              <a:t>Deployment (Optional):</a:t>
            </a:r>
            <a:r>
              <a:rPr kumimoji="0" lang="en-US" altLang="en-US" sz="2000" b="0" i="0" u="none" strike="noStrike" cap="none" normalizeH="0" baseline="0" dirty="0" smtClean="0">
                <a:ln>
                  <a:noFill/>
                </a:ln>
                <a:solidFill>
                  <a:schemeClr val="tx1"/>
                </a:solidFill>
                <a:effectLst/>
                <a:latin typeface="Arial" panose="020B0604020202020204" pitchFamily="34" charset="0"/>
              </a:rPr>
              <a:t/>
            </a:r>
            <a:br>
              <a:rPr kumimoji="0" lang="en-US" altLang="en-US" sz="2000" b="0" i="0" u="none" strike="noStrike" cap="none" normalizeH="0" baseline="0" dirty="0" smtClean="0">
                <a:ln>
                  <a:noFill/>
                </a:ln>
                <a:solidFill>
                  <a:schemeClr val="tx1"/>
                </a:solidFill>
                <a:effectLst/>
                <a:latin typeface="Arial" panose="020B0604020202020204" pitchFamily="34" charset="0"/>
              </a:rPr>
            </a:br>
            <a:r>
              <a:rPr kumimoji="0" lang="en-US" altLang="en-US" sz="2000" b="0" i="0" u="none" strike="noStrike" cap="none" normalizeH="0" baseline="0" dirty="0" smtClean="0">
                <a:ln>
                  <a:noFill/>
                </a:ln>
                <a:solidFill>
                  <a:schemeClr val="tx1"/>
                </a:solidFill>
                <a:effectLst/>
                <a:latin typeface="Arial" panose="020B0604020202020204" pitchFamily="34" charset="0"/>
              </a:rPr>
              <a:t>Built a simple user interface allowing users to upload an image and view the predicted waste category.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smtClean="0">
                <a:ln>
                  <a:noFill/>
                </a:ln>
                <a:solidFill>
                  <a:schemeClr val="tx1"/>
                </a:solidFill>
                <a:effectLst/>
                <a:latin typeface="Arial" panose="020B0604020202020204" pitchFamily="34" charset="0"/>
              </a:rPr>
              <a:t>Analysis &amp; Results:</a:t>
            </a:r>
            <a:r>
              <a:rPr kumimoji="0" lang="en-US" altLang="en-US" sz="2000" b="0" i="0" u="none" strike="noStrike" cap="none" normalizeH="0" baseline="0" dirty="0" smtClean="0">
                <a:ln>
                  <a:noFill/>
                </a:ln>
                <a:solidFill>
                  <a:schemeClr val="tx1"/>
                </a:solidFill>
                <a:effectLst/>
                <a:latin typeface="Arial" panose="020B0604020202020204" pitchFamily="34" charset="0"/>
              </a:rPr>
              <a:t/>
            </a:r>
            <a:br>
              <a:rPr kumimoji="0" lang="en-US" altLang="en-US" sz="2000" b="0" i="0" u="none" strike="noStrike" cap="none" normalizeH="0" baseline="0" dirty="0" smtClean="0">
                <a:ln>
                  <a:noFill/>
                </a:ln>
                <a:solidFill>
                  <a:schemeClr val="tx1"/>
                </a:solidFill>
                <a:effectLst/>
                <a:latin typeface="Arial" panose="020B0604020202020204" pitchFamily="34" charset="0"/>
              </a:rPr>
            </a:br>
            <a:r>
              <a:rPr kumimoji="0" lang="en-US" altLang="en-US" sz="2000" b="0" i="0" u="none" strike="noStrike" cap="none" normalizeH="0" baseline="0" dirty="0" smtClean="0">
                <a:ln>
                  <a:noFill/>
                </a:ln>
                <a:solidFill>
                  <a:schemeClr val="tx1"/>
                </a:solidFill>
                <a:effectLst/>
                <a:latin typeface="Arial" panose="020B0604020202020204" pitchFamily="34" charset="0"/>
              </a:rPr>
              <a:t>Compared model performance, visualized confusion matrices, and identified areas for future improvement.</a:t>
            </a:r>
          </a:p>
        </p:txBody>
      </p:sp>
    </p:spTree>
    <p:extLst>
      <p:ext uri="{BB962C8B-B14F-4D97-AF65-F5344CB8AC3E}">
        <p14:creationId xmlns:p14="http://schemas.microsoft.com/office/powerpoint/2010/main" val="2706790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Problem Statement:  </a:t>
            </a:r>
            <a:endParaRPr lang="en-IN" sz="2000" b="1" dirty="0">
              <a:solidFill>
                <a:srgbClr val="213163"/>
              </a:solidFill>
            </a:endParaRPr>
          </a:p>
        </p:txBody>
      </p:sp>
      <p:sp>
        <p:nvSpPr>
          <p:cNvPr id="2" name="Rectangle 1"/>
          <p:cNvSpPr/>
          <p:nvPr/>
        </p:nvSpPr>
        <p:spPr>
          <a:xfrm>
            <a:off x="255104" y="1802561"/>
            <a:ext cx="11814976" cy="1816266"/>
          </a:xfrm>
          <a:prstGeom prst="rect">
            <a:avLst/>
          </a:prstGeom>
        </p:spPr>
        <p:txBody>
          <a:bodyPr wrap="square">
            <a:spAutoFit/>
          </a:bodyPr>
          <a:lstStyle/>
          <a:p>
            <a:r>
              <a:rPr lang="en-GB" dirty="0"/>
              <a:t>In urban environments, </a:t>
            </a:r>
            <a:r>
              <a:rPr lang="en-GB" b="1" dirty="0"/>
              <a:t>waste mismanagement</a:t>
            </a:r>
            <a:r>
              <a:rPr lang="en-GB" dirty="0"/>
              <a:t> is one of the biggest barriers to achieving sustainability. A large portion of recyclable or compostable materials end up in landfills due to improper segregation. Manual sorting is not only inefficient but also unhygienic and error-prone. This project aims to </a:t>
            </a:r>
            <a:r>
              <a:rPr lang="en-GB" b="1" dirty="0"/>
              <a:t>develop a deep learning model that can automatically classify waste images into distinct categories such as organic, recyclable, and hazardous</a:t>
            </a:r>
            <a:r>
              <a:rPr lang="en-GB" dirty="0"/>
              <a:t>, thereby promoting better waste segregation and supporting sustainable waste management practices.</a:t>
            </a:r>
            <a:endParaRPr lang="en-US" dirty="0"/>
          </a:p>
        </p:txBody>
      </p:sp>
      <p:sp>
        <p:nvSpPr>
          <p:cNvPr id="4" name="Rectangle 3"/>
          <p:cNvSpPr/>
          <p:nvPr/>
        </p:nvSpPr>
        <p:spPr>
          <a:xfrm>
            <a:off x="231285" y="3618827"/>
            <a:ext cx="11781322" cy="2678234"/>
          </a:xfrm>
          <a:prstGeom prst="rect">
            <a:avLst/>
          </a:prstGeom>
        </p:spPr>
        <p:txBody>
          <a:bodyPr wrap="square">
            <a:spAutoFit/>
          </a:bodyPr>
          <a:lstStyle/>
          <a:p>
            <a:r>
              <a:rPr lang="en-GB" dirty="0"/>
              <a:t>The project “</a:t>
            </a:r>
            <a:r>
              <a:rPr lang="en-GB" b="1" dirty="0"/>
              <a:t>EcoSort: Deep Learning-based Waste Classification for Sustainable Waste Management</a:t>
            </a:r>
            <a:r>
              <a:rPr lang="en-GB" dirty="0"/>
              <a:t>” focuses on leveraging artificial intelligence to tackle one of the most persistent global environmental challenges — improper waste segregation. With the growing volume of waste generated every day, traditional manual sorting methods are no longer practical or sustainable. By using deep learning and computer vision, this project aims to create an automated system capable of classifying waste materials based on images. Such an approach not only supports efficient recycling and resource recovery but also minimizes human exposure to harmful waste, reduces landfill accumulation, and promotes cleaner, greener urban environments. Ultimately, the project aligns with the United Nations’ Sustainable Development Goals (SDGs), particularly those related to responsible consumption and environmental protection.</a:t>
            </a:r>
            <a:endParaRPr lang="en-US" dirty="0"/>
          </a:p>
        </p:txBody>
      </p:sp>
    </p:spTree>
    <p:extLst>
      <p:ext uri="{BB962C8B-B14F-4D97-AF65-F5344CB8AC3E}">
        <p14:creationId xmlns:p14="http://schemas.microsoft.com/office/powerpoint/2010/main" val="319659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55104" y="1054412"/>
            <a:ext cx="6102626" cy="646331"/>
          </a:xfrm>
          <a:prstGeom prst="rect">
            <a:avLst/>
          </a:prstGeom>
          <a:noFill/>
        </p:spPr>
        <p:txBody>
          <a:bodyPr wrap="square">
            <a:spAutoFit/>
          </a:bodyPr>
          <a:lstStyle/>
          <a:p>
            <a:r>
              <a:rPr lang="en-US" sz="3600" b="1" dirty="0">
                <a:solidFill>
                  <a:srgbClr val="213163"/>
                </a:solidFill>
              </a:rPr>
              <a:t>Solution:  </a:t>
            </a:r>
            <a:endParaRPr lang="en-IN" sz="3600" b="1" dirty="0">
              <a:solidFill>
                <a:srgbClr val="213163"/>
              </a:solidFill>
            </a:endParaRPr>
          </a:p>
        </p:txBody>
      </p:sp>
      <p:sp>
        <p:nvSpPr>
          <p:cNvPr id="2" name="Rectangle 1"/>
          <p:cNvSpPr/>
          <p:nvPr/>
        </p:nvSpPr>
        <p:spPr>
          <a:xfrm>
            <a:off x="255104" y="1801031"/>
            <a:ext cx="11343338" cy="4493538"/>
          </a:xfrm>
          <a:prstGeom prst="rect">
            <a:avLst/>
          </a:prstGeom>
        </p:spPr>
        <p:txBody>
          <a:bodyPr wrap="square">
            <a:spAutoFit/>
          </a:bodyPr>
          <a:lstStyle/>
          <a:p>
            <a:r>
              <a:rPr lang="en-GB" sz="2200" dirty="0"/>
              <a:t>To address the problem of inefficient waste segregation, this project proposes an </a:t>
            </a:r>
            <a:r>
              <a:rPr lang="en-GB" sz="2200" b="1" dirty="0"/>
              <a:t>AI-powered waste classification system</a:t>
            </a:r>
            <a:r>
              <a:rPr lang="en-GB" sz="2200" dirty="0"/>
              <a:t> that uses </a:t>
            </a:r>
            <a:r>
              <a:rPr lang="en-GB" sz="2200" b="1" dirty="0"/>
              <a:t>deep learning and image recognition</a:t>
            </a:r>
            <a:r>
              <a:rPr lang="en-GB" sz="2200" dirty="0"/>
              <a:t> to automatically identify different types of waste. The solution involves training a YOLOv8-based model on a </a:t>
            </a:r>
            <a:r>
              <a:rPr lang="en-GB" sz="2200" dirty="0" smtClean="0"/>
              <a:t>labelled </a:t>
            </a:r>
            <a:r>
              <a:rPr lang="en-GB" sz="2200" dirty="0"/>
              <a:t>dataset containing images of materials such as plastic, paper, metal, glass, cardboard, and organic waste.</a:t>
            </a:r>
          </a:p>
          <a:p>
            <a:r>
              <a:rPr lang="en-GB" sz="2200" dirty="0"/>
              <a:t>The trained model can then take an image of waste — captured from a camera or uploaded by a user — and instantly classify it into the correct category. This classification helps in proper disposal or recycling, reducing contamination between waste streams. A simple </a:t>
            </a:r>
            <a:r>
              <a:rPr lang="en-GB" sz="2200" b="1" dirty="0"/>
              <a:t>web-based interface or mobile prototype</a:t>
            </a:r>
            <a:r>
              <a:rPr lang="en-GB" sz="2200" dirty="0"/>
              <a:t> can also be developed to allow easy usage by the public, recycling </a:t>
            </a:r>
            <a:r>
              <a:rPr lang="en-GB" sz="2200" dirty="0" err="1"/>
              <a:t>centers</a:t>
            </a:r>
            <a:r>
              <a:rPr lang="en-GB" sz="2200" dirty="0"/>
              <a:t>, or smart waste bins.</a:t>
            </a:r>
          </a:p>
          <a:p>
            <a:r>
              <a:rPr lang="en-GB" sz="2200" dirty="0"/>
              <a:t>By integrating artificial intelligence into waste management, the proposed solution promotes </a:t>
            </a:r>
            <a:r>
              <a:rPr lang="en-GB" sz="2200" b="1" dirty="0"/>
              <a:t>automation, accuracy, and sustainability</a:t>
            </a:r>
            <a:r>
              <a:rPr lang="en-GB" sz="2200" dirty="0"/>
              <a:t>, helping cities and communities manage their waste more effectively while supporting environmental conservation efforts.</a:t>
            </a:r>
          </a:p>
        </p:txBody>
      </p:sp>
    </p:spTree>
    <p:extLst>
      <p:ext uri="{BB962C8B-B14F-4D97-AF65-F5344CB8AC3E}">
        <p14:creationId xmlns:p14="http://schemas.microsoft.com/office/powerpoint/2010/main" val="30029688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0" y="696194"/>
            <a:ext cx="6102626" cy="400110"/>
          </a:xfrm>
          <a:prstGeom prst="rect">
            <a:avLst/>
          </a:prstGeom>
          <a:noFill/>
        </p:spPr>
        <p:txBody>
          <a:bodyPr wrap="square">
            <a:spAutoFit/>
          </a:bodyPr>
          <a:lstStyle/>
          <a:p>
            <a:r>
              <a:rPr lang="en-US" sz="2000" b="1" dirty="0">
                <a:solidFill>
                  <a:srgbClr val="213163"/>
                </a:solidFill>
              </a:rPr>
              <a:t>Screenshot of Output:  </a:t>
            </a:r>
            <a:endParaRPr lang="en-IN" sz="2000" b="1" dirty="0">
              <a:solidFill>
                <a:srgbClr val="213163"/>
              </a:solidFill>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121" y="1096304"/>
            <a:ext cx="11660957" cy="5739282"/>
          </a:xfrm>
          <a:prstGeom prst="rect">
            <a:avLst/>
          </a:prstGeom>
        </p:spPr>
      </p:pic>
    </p:spTree>
    <p:extLst>
      <p:ext uri="{BB962C8B-B14F-4D97-AF65-F5344CB8AC3E}">
        <p14:creationId xmlns:p14="http://schemas.microsoft.com/office/powerpoint/2010/main" val="16359494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0" y="696194"/>
            <a:ext cx="6102626" cy="400110"/>
          </a:xfrm>
          <a:prstGeom prst="rect">
            <a:avLst/>
          </a:prstGeom>
          <a:noFill/>
        </p:spPr>
        <p:txBody>
          <a:bodyPr wrap="square">
            <a:spAutoFit/>
          </a:bodyPr>
          <a:lstStyle/>
          <a:p>
            <a:r>
              <a:rPr lang="en-US" sz="2000" b="1" dirty="0">
                <a:solidFill>
                  <a:srgbClr val="213163"/>
                </a:solidFill>
              </a:rPr>
              <a:t>Screenshot of </a:t>
            </a:r>
            <a:r>
              <a:rPr lang="en-US" sz="2000" b="1" dirty="0" smtClean="0">
                <a:solidFill>
                  <a:srgbClr val="213163"/>
                </a:solidFill>
              </a:rPr>
              <a:t>Output With UI:  </a:t>
            </a:r>
            <a:endParaRPr lang="en-IN" sz="2000" b="1" dirty="0">
              <a:solidFill>
                <a:srgbClr val="213163"/>
              </a:solidFill>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4972" y="1370752"/>
            <a:ext cx="10058400" cy="5278170"/>
          </a:xfrm>
          <a:prstGeom prst="rect">
            <a:avLst/>
          </a:prstGeom>
        </p:spPr>
      </p:pic>
    </p:spTree>
    <p:extLst>
      <p:ext uri="{BB962C8B-B14F-4D97-AF65-F5344CB8AC3E}">
        <p14:creationId xmlns:p14="http://schemas.microsoft.com/office/powerpoint/2010/main" val="5564724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149087" y="988151"/>
            <a:ext cx="6102626" cy="400110"/>
          </a:xfrm>
          <a:prstGeom prst="rect">
            <a:avLst/>
          </a:prstGeom>
          <a:noFill/>
        </p:spPr>
        <p:txBody>
          <a:bodyPr wrap="square">
            <a:spAutoFit/>
          </a:bodyPr>
          <a:lstStyle/>
          <a:p>
            <a:r>
              <a:rPr lang="en-US" sz="2000" b="1" dirty="0">
                <a:solidFill>
                  <a:srgbClr val="213163"/>
                </a:solidFill>
              </a:rPr>
              <a:t>Conclusion:</a:t>
            </a:r>
            <a:r>
              <a:rPr lang="en-US" sz="1800" b="1" dirty="0">
                <a:solidFill>
                  <a:srgbClr val="213163"/>
                </a:solidFill>
              </a:rPr>
              <a:t>  </a:t>
            </a:r>
            <a:endParaRPr lang="en-IN" sz="1800" dirty="0">
              <a:solidFill>
                <a:srgbClr val="213163"/>
              </a:solidFill>
            </a:endParaRPr>
          </a:p>
        </p:txBody>
      </p:sp>
      <p:sp>
        <p:nvSpPr>
          <p:cNvPr id="13" name="Rectangle 12"/>
          <p:cNvSpPr/>
          <p:nvPr/>
        </p:nvSpPr>
        <p:spPr>
          <a:xfrm>
            <a:off x="149087" y="1066356"/>
            <a:ext cx="11804101" cy="5264133"/>
          </a:xfrm>
          <a:prstGeom prst="rect">
            <a:avLst/>
          </a:prstGeom>
        </p:spPr>
        <p:txBody>
          <a:bodyPr wrap="square">
            <a:spAutoFit/>
          </a:bodyPr>
          <a:lstStyle/>
          <a:p>
            <a:endParaRPr lang="en-US" dirty="0"/>
          </a:p>
          <a:p>
            <a:endParaRPr lang="en-US" dirty="0"/>
          </a:p>
          <a:p>
            <a:r>
              <a:rPr lang="en-US" dirty="0"/>
              <a:t>Successfully developed a CNN-based garbage classifier achieving 90.46% validation accuracy across 10 waste categories using 19,762 real-world images. The model leverages EfficientNetB0 transfer learning with only 16.85 MB size and minimal overfitting.</a:t>
            </a:r>
          </a:p>
          <a:p>
            <a:endParaRPr lang="en-US" dirty="0"/>
          </a:p>
          <a:p>
            <a:r>
              <a:rPr lang="en-US" dirty="0"/>
              <a:t>Key Achievements: • 90.46% accuracy on real-world dataset • Optimized 16.85 MB model with 365K trainable parameters • Deployed as interactive web application • Trained efficiently in single epoch</a:t>
            </a:r>
          </a:p>
          <a:p>
            <a:endParaRPr lang="en-US" dirty="0"/>
          </a:p>
          <a:p>
            <a:r>
              <a:rPr lang="en-US" dirty="0"/>
              <a:t>Impact &amp; Applications: This system automates waste segregation for smart dustbins, recycling plants, and waste management facilities, reducing manual effort while promoting environmental sustainability through improved recycling accuracy.</a:t>
            </a:r>
          </a:p>
          <a:p>
            <a:endParaRPr lang="en-US" dirty="0"/>
          </a:p>
          <a:p>
            <a:r>
              <a:rPr lang="en-US" dirty="0"/>
              <a:t>Future Scope: • Fine-tune for 95%+ accuracy • Add specialized categories (e-waste, hazardous) • Deploy on mobile and edge devices • </a:t>
            </a:r>
            <a:r>
              <a:rPr lang="en-US" dirty="0" err="1"/>
              <a:t>IoT</a:t>
            </a:r>
            <a:r>
              <a:rPr lang="en-US" dirty="0"/>
              <a:t> integration for automated sorting</a:t>
            </a:r>
          </a:p>
          <a:p>
            <a:endParaRPr lang="en-US" dirty="0"/>
          </a:p>
          <a:p>
            <a:r>
              <a:rPr lang="en-US" dirty="0"/>
              <a:t>This project demonstrates how deep learning effectively solves real-world environmental challenges, creating a production-ready, scalable solution for smarter waste management systems globally.</a:t>
            </a:r>
          </a:p>
        </p:txBody>
      </p:sp>
    </p:spTree>
    <p:extLst>
      <p:ext uri="{BB962C8B-B14F-4D97-AF65-F5344CB8AC3E}">
        <p14:creationId xmlns:p14="http://schemas.microsoft.com/office/powerpoint/2010/main" val="151988358"/>
      </p:ext>
    </p:extLst>
  </p:cSld>
  <p:clrMapOvr>
    <a:masterClrMapping/>
  </p:clrMapOvr>
</p:sld>
</file>

<file path=ppt/theme/theme1.xml><?xml version="1.0" encoding="utf-8"?>
<a:theme xmlns:a="http://schemas.openxmlformats.org/drawingml/2006/main" name="Session 01 Design Thinking &amp; Critical Thinking">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ession 01 Design Thinking &amp; Critical Thinking" id="{1DE73F69-F87A-4ED3-81C1-82D2BA622E0C}" vid="{37568650-F724-47C7-905E-9640F8017497}"/>
    </a:ext>
  </a:extLst>
</a:theme>
</file>

<file path=docProps/app.xml><?xml version="1.0" encoding="utf-8"?>
<Properties xmlns="http://schemas.openxmlformats.org/officeDocument/2006/extended-properties" xmlns:vt="http://schemas.openxmlformats.org/officeDocument/2006/docPropsVTypes">
  <Template>Session 01 Design Thinking &amp; Critical Thinking</Template>
  <TotalTime>48</TotalTime>
  <Words>973</Words>
  <Application>Microsoft Office PowerPoint</Application>
  <PresentationFormat>Widescreen</PresentationFormat>
  <Paragraphs>48</Paragraphs>
  <Slides>9</Slides>
  <Notes>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9</vt:i4>
      </vt:variant>
    </vt:vector>
  </HeadingPairs>
  <TitlesOfParts>
    <vt:vector size="11" baseType="lpstr">
      <vt:lpstr>Arial</vt:lpstr>
      <vt:lpstr>Session 01 Design Thinking &amp; Critical Thinking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Mohammed Omer Farooq</dc:creator>
  <cp:lastModifiedBy>Dell</cp:lastModifiedBy>
  <cp:revision>9</cp:revision>
  <dcterms:created xsi:type="dcterms:W3CDTF">2024-12-31T09:40:01Z</dcterms:created>
  <dcterms:modified xsi:type="dcterms:W3CDTF">2025-11-09T05:50:23Z</dcterms:modified>
</cp:coreProperties>
</file>